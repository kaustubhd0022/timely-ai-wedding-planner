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788920"/>
            <a:ext cx="1280160" cy="1280160"/>
          </a:xfrm>
          <a:prstGeom prst="ellipse">
            <a:avLst/>
          </a:prstGeom>
          <a:ln w="12700">
            <a:solidFill>
              <a:srgbClr val="D4537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2286000"/>
            <a:ext cx="2286000" cy="2286000"/>
          </a:xfrm>
          <a:prstGeom prst="ellipse">
            <a:avLst/>
          </a:prstGeom>
          <a:ln w="12700">
            <a:solidFill>
              <a:srgbClr val="D4537E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783080"/>
            <a:ext cx="3291840" cy="3291840"/>
          </a:xfrm>
          <a:prstGeom prst="ellipse">
            <a:avLst/>
          </a:prstGeom>
          <a:ln w="12700">
            <a:solidFill>
              <a:srgbClr val="D4537E">
                <a:alpha val="5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280160"/>
            <a:ext cx="4297680" cy="4297680"/>
          </a:xfrm>
          <a:prstGeom prst="ellipse">
            <a:avLst/>
          </a:prstGeom>
          <a:ln w="12700">
            <a:solidFill>
              <a:srgbClr val="D4537E">
                <a:alpha val="6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777240"/>
            <a:ext cx="5303520" cy="5303520"/>
          </a:xfrm>
          <a:prstGeom prst="ellipse">
            <a:avLst/>
          </a:prstGeom>
          <a:ln w="12700">
            <a:solidFill>
              <a:srgbClr val="D4537E">
                <a:alpha val="7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2971800"/>
            <a:ext cx="914400" cy="914400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322783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WeddingFlow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</a:t>
            </a:r>
            <a:endParaRPr lang="en-US" sz="6400" dirty="0"/>
          </a:p>
          <a:p>
            <a:pPr indent="0" marL="0">
              <a:buNone/>
            </a:pPr>
            <a:r>
              <a:rPr lang="en-US" sz="6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File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C0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your big day, without the chaos.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1280160" cy="23774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029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74520" y="5029200"/>
            <a:ext cx="1280160" cy="23774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5029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5029200"/>
            <a:ext cx="1280160" cy="23774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5029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5029200"/>
            <a:ext cx="1280160" cy="23774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5029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Kits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5029200"/>
            <a:ext cx="1280160" cy="23774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5029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Spec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 ·  March 2026  ·  Mobile-first PWA  ·  India-first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0→1 design system for the AI Wedding Timeline Orchestrator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03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128016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55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· Problem · Solution · Users · Platform decision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303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08960"/>
            <a:ext cx="73152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18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hierarchy · Navigation · AI touchpoints · Dependency map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5303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572000"/>
            <a:ext cx="73152" cy="1280160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81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Ivory Bloom kit · Colors · Typography · Components · Motion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303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645920"/>
            <a:ext cx="73152" cy="1280160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755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05740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246888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screens · Annotated · Mobile-first · PWA-ready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108960"/>
            <a:ext cx="5303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108960"/>
            <a:ext cx="73152" cy="128016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218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52044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Specification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393192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· Per-screen copy · AI logic · Layout rules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3035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4572000"/>
            <a:ext cx="73152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681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4983480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5394960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1–4 · Tool stack · Success metrics ·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Product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one-line pitch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128016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personal wedding co-planner — AI-generated timelines, task orchestration, and family coordination for every Indian couple."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743200" cy="338328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26080"/>
            <a:ext cx="274320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manage 100+ tasks across 6–12 months using WhatsApp groups and spreadsheets — both break under pressure.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926080"/>
            <a:ext cx="2743200" cy="338328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926080"/>
            <a:ext cx="27432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personalised timelines that adapt to wedding date, budget, culture, events, and progress.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2743200" cy="338328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926080"/>
            <a:ext cx="2743200" cy="54864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474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couples in India — Tier 1 &amp; 2 cities — planning 3–18 months out, with multi-event traditional weddings.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2926080"/>
            <a:ext cx="2743200" cy="338328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2926080"/>
            <a:ext cx="2743200" cy="54864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18320" y="34747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— one codebase for mobile + web. No App Store. Installable to home screen. Offline-ready Phase 2.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Information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structure + navigation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377440" cy="548640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· Welcome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783080"/>
            <a:ext cx="0" cy="320040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377440" cy="54864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(4 steps)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0" y="2651760"/>
            <a:ext cx="0" cy="320040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71800"/>
            <a:ext cx="2377440" cy="54864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AI Timeline Engine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3246120"/>
            <a:ext cx="457200" cy="0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97280"/>
            <a:ext cx="8412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8328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 — Bottom Navigation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1600200"/>
            <a:ext cx="1508760" cy="50292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6276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1865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48072" y="1600200"/>
            <a:ext cx="150876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8072" y="16276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48072" y="1865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75704" y="1600200"/>
            <a:ext cx="150876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16276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75704" y="1865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403336" y="1600200"/>
            <a:ext cx="150876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03336" y="16276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03336" y="1865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030968" y="1600200"/>
            <a:ext cx="1508760" cy="502920"/>
          </a:xfrm>
          <a:prstGeom prst="rect">
            <a:avLst/>
          </a:prstGeom>
          <a:solidFill>
            <a:srgbClr val="F1EFE8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30968" y="16276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30968" y="1865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20440" y="21945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2194560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3" name="Text 31"/>
          <p:cNvSpPr/>
          <p:nvPr/>
        </p:nvSpPr>
        <p:spPr>
          <a:xfrm>
            <a:off x="3630168" y="219456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20440" y="29718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0440" y="2971800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6" name="Text 34"/>
          <p:cNvSpPr/>
          <p:nvPr/>
        </p:nvSpPr>
        <p:spPr>
          <a:xfrm>
            <a:off x="3630168" y="297180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tasks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520440" y="374904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3749040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9" name="Text 37"/>
          <p:cNvSpPr/>
          <p:nvPr/>
        </p:nvSpPr>
        <p:spPr>
          <a:xfrm>
            <a:off x="3630168" y="374904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AI next action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20440" y="45262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0440" y="4526280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42" name="Text 40"/>
          <p:cNvSpPr/>
          <p:nvPr/>
        </p:nvSpPr>
        <p:spPr>
          <a:xfrm>
            <a:off x="3630168" y="452628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alerts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48072" y="21945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48072" y="2194560"/>
            <a:ext cx="54864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5" name="Text 43"/>
          <p:cNvSpPr/>
          <p:nvPr/>
        </p:nvSpPr>
        <p:spPr>
          <a:xfrm>
            <a:off x="5257800" y="219456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/ Month view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148072" y="29718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48072" y="2971800"/>
            <a:ext cx="54864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8" name="Text 46"/>
          <p:cNvSpPr/>
          <p:nvPr/>
        </p:nvSpPr>
        <p:spPr>
          <a:xfrm>
            <a:off x="5257800" y="297180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view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48072" y="374904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48072" y="3749040"/>
            <a:ext cx="54864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1" name="Text 49"/>
          <p:cNvSpPr/>
          <p:nvPr/>
        </p:nvSpPr>
        <p:spPr>
          <a:xfrm>
            <a:off x="5257800" y="374904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Re-plan button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48072" y="45262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48072" y="4526280"/>
            <a:ext cx="54864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4" name="Text 52"/>
          <p:cNvSpPr/>
          <p:nvPr/>
        </p:nvSpPr>
        <p:spPr>
          <a:xfrm>
            <a:off x="5257800" y="452628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75704" y="21945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75704" y="2194560"/>
            <a:ext cx="54864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57" name="Text 55"/>
          <p:cNvSpPr/>
          <p:nvPr/>
        </p:nvSpPr>
        <p:spPr>
          <a:xfrm>
            <a:off x="6885432" y="219456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list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775704" y="29718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75704" y="2971800"/>
            <a:ext cx="54864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60" name="Text 58"/>
          <p:cNvSpPr/>
          <p:nvPr/>
        </p:nvSpPr>
        <p:spPr>
          <a:xfrm>
            <a:off x="6885432" y="297180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775704" y="374904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75704" y="3749040"/>
            <a:ext cx="54864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63" name="Text 61"/>
          <p:cNvSpPr/>
          <p:nvPr/>
        </p:nvSpPr>
        <p:spPr>
          <a:xfrm>
            <a:off x="6885432" y="374904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775704" y="45262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75704" y="4526280"/>
            <a:ext cx="54864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66" name="Text 64"/>
          <p:cNvSpPr/>
          <p:nvPr/>
        </p:nvSpPr>
        <p:spPr>
          <a:xfrm>
            <a:off x="6885432" y="452628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detail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03336" y="21945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403336" y="2194560"/>
            <a:ext cx="54864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69" name="Text 67"/>
          <p:cNvSpPr/>
          <p:nvPr/>
        </p:nvSpPr>
        <p:spPr>
          <a:xfrm>
            <a:off x="8513064" y="219456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Urgency-sorted list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403336" y="29718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03336" y="2971800"/>
            <a:ext cx="54864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72" name="Text 70"/>
          <p:cNvSpPr/>
          <p:nvPr/>
        </p:nvSpPr>
        <p:spPr>
          <a:xfrm>
            <a:off x="8513064" y="297180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toggle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403336" y="374904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03336" y="3749040"/>
            <a:ext cx="54864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75" name="Text 73"/>
          <p:cNvSpPr/>
          <p:nvPr/>
        </p:nvSpPr>
        <p:spPr>
          <a:xfrm>
            <a:off x="8513064" y="374904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403336" y="45262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03336" y="4526280"/>
            <a:ext cx="54864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78" name="Text 76"/>
          <p:cNvSpPr/>
          <p:nvPr/>
        </p:nvSpPr>
        <p:spPr>
          <a:xfrm>
            <a:off x="8513064" y="452628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AI summary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0030968" y="219456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030968" y="2194560"/>
            <a:ext cx="54864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81" name="Text 79"/>
          <p:cNvSpPr/>
          <p:nvPr/>
        </p:nvSpPr>
        <p:spPr>
          <a:xfrm>
            <a:off x="10140696" y="219456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details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10030968" y="297180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30968" y="2971800"/>
            <a:ext cx="54864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84" name="Text 82"/>
          <p:cNvSpPr/>
          <p:nvPr/>
        </p:nvSpPr>
        <p:spPr>
          <a:xfrm>
            <a:off x="10140696" y="297180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10030968" y="374904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030968" y="3749040"/>
            <a:ext cx="54864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87" name="Text 85"/>
          <p:cNvSpPr/>
          <p:nvPr/>
        </p:nvSpPr>
        <p:spPr>
          <a:xfrm>
            <a:off x="10140696" y="374904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selector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0030968" y="4526280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030968" y="4526280"/>
            <a:ext cx="54864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90" name="Text 88"/>
          <p:cNvSpPr/>
          <p:nvPr/>
        </p:nvSpPr>
        <p:spPr>
          <a:xfrm>
            <a:off x="10140696" y="4526280"/>
            <a:ext cx="1353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/ Export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57200" y="5943600"/>
            <a:ext cx="2743200" cy="54864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943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= AI decision point  ·  🔒 = dependency gate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Design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Ivory Bloom — Color + Typography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98448" cy="1645920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#1A1218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1280160"/>
            <a:ext cx="1298448" cy="164592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#D4537E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1298448" cy="1645920"/>
          </a:xfrm>
          <a:prstGeom prst="rect">
            <a:avLst/>
          </a:prstGeom>
          <a:solidFill>
            <a:srgbClr val="F4C0D1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3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#F4C0D1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298448" cy="1645920"/>
          </a:xfrm>
          <a:prstGeom prst="rect">
            <a:avLst/>
          </a:prstGeom>
          <a:solidFill>
            <a:srgbClr val="F9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#F9F4F6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1298448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Champagne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#C9A84C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43800" y="1280160"/>
            <a:ext cx="1298448" cy="1645920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4380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#7A9E8E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0" y="1280160"/>
            <a:ext cx="1298448" cy="1645920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#AFA9EC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378440" y="1280160"/>
            <a:ext cx="1298448" cy="1645920"/>
          </a:xfrm>
          <a:prstGeom prst="rect">
            <a:avLst/>
          </a:prstGeom>
          <a:solidFill>
            <a:srgbClr val="2C1820"/>
          </a:solidFill>
          <a:ln/>
        </p:spPr>
      </p:sp>
      <p:sp>
        <p:nvSpPr>
          <p:cNvPr id="27" name="Text 25"/>
          <p:cNvSpPr/>
          <p:nvPr/>
        </p:nvSpPr>
        <p:spPr>
          <a:xfrm>
            <a:off x="10378440" y="137160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78440" y="25146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#2C1820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246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— GEORGIA ITALIC 300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5204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your big day,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chaos.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400800" y="32461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— GEORGIA 400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5204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Wedding Plan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00800" y="42519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CALIBRI 400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526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photographer this week — availability drops sharply 4 months before peak season.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— CALIBRI 700 CAPS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983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AI SUGGESTION  ·  DUE IN 3 DAYS  ·  VENUE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4406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— CALIBRI 400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715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 tasks · 5 events · 120 days · Started: Oct 2025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Design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Components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554480"/>
            <a:ext cx="2194560" cy="502920"/>
          </a:xfrm>
          <a:prstGeom prst="rect">
            <a:avLst>
              <a:gd name="adj" fmla="val 49091"/>
            </a:avLst>
          </a:prstGeom>
          <a:solidFill>
            <a:srgbClr val="D4537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planning 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2194560" cy="502920"/>
          </a:xfrm>
          <a:prstGeom prst="rect">
            <a:avLst>
              <a:gd name="adj" fmla="val 49091"/>
            </a:avLst>
          </a:prstGeom>
          <a:ln w="12700">
            <a:solidFill>
              <a:srgbClr val="D45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timeline 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2194560" cy="411480"/>
          </a:xfrm>
          <a:prstGeom prst="rect">
            <a:avLst>
              <a:gd name="adj" fmla="val 48889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2491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photographer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1554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100px border-radius  ·  52px height primary  ·  48px secondary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shadows on buttons  ·  Pill shape 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1143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371600"/>
            <a:ext cx="59436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536192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536192"/>
            <a:ext cx="54864" cy="73152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48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9048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Oct 25  ·  Venue  ·  3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686800" y="1536192"/>
            <a:ext cx="2560320" cy="73152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suggestion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23960" y="18288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photographer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377440"/>
            <a:ext cx="5257800" cy="640080"/>
          </a:xfrm>
          <a:prstGeom prst="rect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24323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Venue booked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27249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·  Unlocks invitations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493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3474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703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 date...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3474720" cy="0"/>
          </a:xfrm>
          <a:prstGeom prst="line">
            <a:avLst/>
          </a:prstGeom>
          <a:noFill/>
          <a:ln w="12700">
            <a:solidFill>
              <a:srgbClr val="D453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0" y="3493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TAGS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3749040"/>
            <a:ext cx="1371600" cy="256032"/>
          </a:xfrm>
          <a:prstGeom prst="rect">
            <a:avLst>
              <a:gd name="adj" fmla="val 50000"/>
            </a:avLst>
          </a:prstGeom>
          <a:solidFill>
            <a:srgbClr val="F5EDD6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3749040"/>
            <a:ext cx="1371600" cy="256032"/>
          </a:xfrm>
          <a:prstGeom prst="rect">
            <a:avLst>
              <a:gd name="adj" fmla="val 50000"/>
            </a:avLst>
          </a:prstGeom>
          <a:solidFill>
            <a:srgbClr val="E4EFEB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14800" y="4096512"/>
            <a:ext cx="1371600" cy="256032"/>
          </a:xfrm>
          <a:prstGeom prst="rect">
            <a:avLst>
              <a:gd name="adj" fmla="val 50000"/>
            </a:avLst>
          </a:prstGeom>
          <a:solidFill>
            <a:srgbClr val="F1EFE8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0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4096512"/>
            <a:ext cx="1371600" cy="256032"/>
          </a:xfrm>
          <a:prstGeom prst="rect">
            <a:avLst>
              <a:gd name="adj" fmla="val 50000"/>
            </a:avLst>
          </a:prstGeom>
          <a:solidFill>
            <a:srgbClr val="FBEAF0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40965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34930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40880" y="3703320"/>
            <a:ext cx="51206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32320" y="3730752"/>
            <a:ext cx="914400" cy="731520"/>
          </a:xfrm>
          <a:prstGeom prst="rect">
            <a:avLst/>
          </a:prstGeom>
          <a:solidFill>
            <a:srgbClr val="FBEAF0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0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 Home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19872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Timeline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07424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Vendors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94976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 Alerts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82528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Settings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6817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+ RADIUS RULES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983480"/>
            <a:ext cx="164592" cy="164592"/>
          </a:xfrm>
          <a:prstGeom prst="ellipse">
            <a:avLst/>
          </a:prstGeom>
          <a:solidFill>
            <a:srgbClr val="7A9E8E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495604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radius: 0px (bars) · 8px (tags) · 12px (inputs) · 28px (buttons)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385816"/>
            <a:ext cx="164592" cy="164592"/>
          </a:xfrm>
          <a:prstGeom prst="ellipse">
            <a:avLst/>
          </a:prstGeom>
          <a:solidFill>
            <a:srgbClr val="7A9E8E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35838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Spacing: 8px inner · 16px card gap · 24px section gap · 48px min touch target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5788152"/>
            <a:ext cx="164592" cy="164592"/>
          </a:xfrm>
          <a:prstGeom prst="ellipse">
            <a:avLst/>
          </a:prstGeom>
          <a:solidFill>
            <a:srgbClr val="7A9E8E"/>
          </a:solidFill>
          <a:ln/>
        </p:spPr>
      </p:sp>
      <p:sp>
        <p:nvSpPr>
          <p:cNvPr id="54" name="Text 52"/>
          <p:cNvSpPr/>
          <p:nvPr/>
        </p:nvSpPr>
        <p:spPr>
          <a:xfrm>
            <a:off x="685800" y="57607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Shadow: outer 12pt blur · 3pt offset · 135° · opacity 0.08 · color 000000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Wireframes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screens across 4 phases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530352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74320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Onboarding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→ Inputs → AI builds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 seconds · Emotionally reassuring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2491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Welcome Screen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478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Wedding Setup (4 steps)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34340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37083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AI Plan Generation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6263640"/>
            <a:ext cx="1188720" cy="237744"/>
          </a:xfrm>
          <a:prstGeom prst="rect">
            <a:avLst>
              <a:gd name="adj" fmla="val 50000"/>
            </a:avLst>
          </a:prstGeom>
          <a:solidFill>
            <a:srgbClr val="D4537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6263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screens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1280160"/>
            <a:ext cx="2743200" cy="530352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1280160"/>
            <a:ext cx="27432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Planning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planning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· Dependency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20440" y="269748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72491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Home 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352044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5478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Timeline 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434340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437083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Task Detail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516636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519379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Vendor Tracker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0440" y="6263640"/>
            <a:ext cx="1188720" cy="237744"/>
          </a:xfrm>
          <a:prstGeom prst="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6263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280160"/>
            <a:ext cx="2743200" cy="530352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32" name="Shape 30"/>
          <p:cNvSpPr/>
          <p:nvPr/>
        </p:nvSpPr>
        <p:spPr>
          <a:xfrm>
            <a:off x="6309360" y="1280160"/>
            <a:ext cx="2743200" cy="54864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Execution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Auto-activates 24h before 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· Hour-by-hour · Contacts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269748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272491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Day-of Coordinator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46520" y="352044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54787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· Reminders + Alerts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6263640"/>
            <a:ext cx="1188720" cy="237744"/>
          </a:xfrm>
          <a:prstGeom prst="rect">
            <a:avLst>
              <a:gd name="adj" fmla="val 50000"/>
            </a:avLst>
          </a:prstGeom>
          <a:solidFill>
            <a:srgbClr val="7A9E8E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6263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235440" y="1280160"/>
            <a:ext cx="2743200" cy="530352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42" name="Shape 40"/>
          <p:cNvSpPr/>
          <p:nvPr/>
        </p:nvSpPr>
        <p:spPr>
          <a:xfrm>
            <a:off x="9235440" y="1280160"/>
            <a:ext cx="2743200" cy="54864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43" name="Text 41"/>
          <p:cNvSpPr/>
          <p:nvPr/>
        </p:nvSpPr>
        <p:spPr>
          <a:xfrm>
            <a:off x="9372600" y="1417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Completion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72600" y="1920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conclusion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· Share · NPS · Post-wedding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372600" y="2697480"/>
            <a:ext cx="2468880" cy="685800"/>
          </a:xfrm>
          <a:prstGeom prst="rect">
            <a:avLst/>
          </a:prstGeom>
          <a:solidFill>
            <a:srgbClr val="1A1218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09760" y="272491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· Celebration + Wrap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372600" y="6263640"/>
            <a:ext cx="1188720" cy="237744"/>
          </a:xfrm>
          <a:prstGeom prst="rect">
            <a:avLst>
              <a:gd name="adj" fmla="val 50000"/>
            </a:avLst>
          </a:prstGeom>
          <a:solidFill>
            <a:srgbClr val="AFA9EC"/>
          </a:solidFill>
          <a:ln/>
        </p:spPr>
      </p:sp>
      <p:sp>
        <p:nvSpPr>
          <p:cNvPr id="48" name="Text 46"/>
          <p:cNvSpPr/>
          <p:nvPr/>
        </p:nvSpPr>
        <p:spPr>
          <a:xfrm>
            <a:off x="9372600" y="62636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screen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+ S2 · Welcome + Onboarding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 point + wedding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286000" cy="256032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612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99032"/>
            <a:ext cx="2286000" cy="2103120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2313432"/>
            <a:ext cx="274320" cy="274320"/>
          </a:xfrm>
          <a:prstGeom prst="ellipse">
            <a:avLst/>
          </a:prstGeom>
          <a:ln w="12700">
            <a:solidFill>
              <a:srgbClr val="D4537E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3020" y="2153412"/>
            <a:ext cx="594360" cy="594360"/>
          </a:xfrm>
          <a:prstGeom prst="ellipse">
            <a:avLst/>
          </a:prstGeom>
          <a:ln w="12700">
            <a:solidFill>
              <a:srgbClr val="D4537E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993392"/>
            <a:ext cx="914400" cy="914400"/>
          </a:xfrm>
          <a:prstGeom prst="ellipse">
            <a:avLst/>
          </a:prstGeom>
          <a:ln w="12700">
            <a:solidFill>
              <a:srgbClr val="D4537E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" y="1833372"/>
            <a:ext cx="1234440" cy="1234440"/>
          </a:xfrm>
          <a:prstGeom prst="ellipse">
            <a:avLst/>
          </a:prstGeom>
          <a:ln w="12700">
            <a:solidFill>
              <a:srgbClr val="D4537E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0848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WeddingFlow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your big day,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chaos.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53712"/>
            <a:ext cx="1920240" cy="457200"/>
          </a:xfrm>
          <a:prstGeom prst="rect">
            <a:avLst>
              <a:gd name="adj" fmla="val 50000"/>
            </a:avLst>
          </a:prstGeom>
          <a:solidFill>
            <a:srgbClr val="D4537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537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planning 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50840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planning? Sign 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6217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17520" y="1143000"/>
            <a:ext cx="2286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17520" y="1143000"/>
            <a:ext cx="2286000" cy="256032"/>
          </a:xfrm>
          <a:prstGeom prst="rect">
            <a:avLst/>
          </a:prstGeom>
          <a:solidFill>
            <a:srgbClr val="F9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11612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4" name="Shape 22"/>
          <p:cNvSpPr/>
          <p:nvPr/>
        </p:nvSpPr>
        <p:spPr>
          <a:xfrm>
            <a:off x="3749040" y="1481328"/>
            <a:ext cx="411480" cy="54864"/>
          </a:xfrm>
          <a:prstGeom prst="rect">
            <a:avLst/>
          </a:prstGeom>
          <a:solidFill>
            <a:srgbClr val="F0D8E4"/>
          </a:solidFill>
          <a:ln/>
        </p:spPr>
      </p:sp>
      <p:sp>
        <p:nvSpPr>
          <p:cNvPr id="25" name="Shape 23"/>
          <p:cNvSpPr/>
          <p:nvPr/>
        </p:nvSpPr>
        <p:spPr>
          <a:xfrm>
            <a:off x="4251960" y="1481328"/>
            <a:ext cx="411480" cy="54864"/>
          </a:xfrm>
          <a:prstGeom prst="rect">
            <a:avLst/>
          </a:prstGeom>
          <a:solidFill>
            <a:srgbClr val="F0D8E4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1481328"/>
            <a:ext cx="411480" cy="54864"/>
          </a:xfrm>
          <a:prstGeom prst="rect">
            <a:avLst/>
          </a:prstGeom>
          <a:solidFill>
            <a:srgbClr val="F0D8E4"/>
          </a:solidFill>
          <a:ln/>
        </p:spPr>
      </p:sp>
      <p:sp>
        <p:nvSpPr>
          <p:cNvPr id="27" name="Text 25"/>
          <p:cNvSpPr/>
          <p:nvPr/>
        </p:nvSpPr>
        <p:spPr>
          <a:xfrm>
            <a:off x="315468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54680" y="18105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us about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big day 💍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54680" y="25603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5786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February 2026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30632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081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Maharashtra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54680" y="3566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count: 250 guests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3858768"/>
            <a:ext cx="2011680" cy="73152"/>
          </a:xfrm>
          <a:prstGeom prst="rect">
            <a:avLst/>
          </a:prstGeom>
          <a:solidFill>
            <a:srgbClr val="F0D8E4"/>
          </a:solidFill>
          <a:ln/>
        </p:spPr>
      </p:sp>
      <p:sp>
        <p:nvSpPr>
          <p:cNvPr id="35" name="Shape 33"/>
          <p:cNvSpPr/>
          <p:nvPr/>
        </p:nvSpPr>
        <p:spPr>
          <a:xfrm>
            <a:off x="3154680" y="3858768"/>
            <a:ext cx="1280160" cy="73152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0" y="5760720"/>
            <a:ext cx="1920240" cy="420624"/>
          </a:xfrm>
          <a:prstGeom prst="rect">
            <a:avLst>
              <a:gd name="adj" fmla="val 50000"/>
            </a:avLst>
          </a:prstGeom>
          <a:solidFill>
            <a:srgbClr val="D4537E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5760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1143000"/>
            <a:ext cx="2286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1143000"/>
            <a:ext cx="2286000" cy="256032"/>
          </a:xfrm>
          <a:prstGeom prst="rect">
            <a:avLst/>
          </a:prstGeom>
          <a:solidFill>
            <a:srgbClr val="F9F4F6"/>
          </a:solidFill>
          <a:ln/>
        </p:spPr>
      </p:sp>
      <p:sp>
        <p:nvSpPr>
          <p:cNvPr id="40" name="Text 38"/>
          <p:cNvSpPr/>
          <p:nvPr/>
        </p:nvSpPr>
        <p:spPr>
          <a:xfrm>
            <a:off x="5687568" y="11612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0644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42" name="Shape 40"/>
          <p:cNvSpPr/>
          <p:nvPr/>
        </p:nvSpPr>
        <p:spPr>
          <a:xfrm>
            <a:off x="630936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43" name="Shape 41"/>
          <p:cNvSpPr/>
          <p:nvPr/>
        </p:nvSpPr>
        <p:spPr>
          <a:xfrm>
            <a:off x="6812280" y="1481328"/>
            <a:ext cx="411480" cy="54864"/>
          </a:xfrm>
          <a:prstGeom prst="rect">
            <a:avLst/>
          </a:prstGeom>
          <a:solidFill>
            <a:srgbClr val="F0D8E4"/>
          </a:solidFill>
          <a:ln/>
        </p:spPr>
      </p:sp>
      <p:sp>
        <p:nvSpPr>
          <p:cNvPr id="44" name="Shape 42"/>
          <p:cNvSpPr/>
          <p:nvPr/>
        </p:nvSpPr>
        <p:spPr>
          <a:xfrm>
            <a:off x="7315200" y="1481328"/>
            <a:ext cx="411480" cy="54864"/>
          </a:xfrm>
          <a:prstGeom prst="rect">
            <a:avLst/>
          </a:prstGeom>
          <a:solidFill>
            <a:srgbClr val="F0D8E4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715000" y="18105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events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you having?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715000" y="2578608"/>
            <a:ext cx="914400" cy="310896"/>
          </a:xfrm>
          <a:prstGeom prst="rect">
            <a:avLst>
              <a:gd name="adj" fmla="val 50000"/>
            </a:avLst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2578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Haldi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20840" y="2578608"/>
            <a:ext cx="914400" cy="310896"/>
          </a:xfrm>
          <a:prstGeom prst="rect">
            <a:avLst>
              <a:gd name="adj" fmla="val 50000"/>
            </a:avLst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25786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Mehendi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15000" y="2980944"/>
            <a:ext cx="914400" cy="310896"/>
          </a:xfrm>
          <a:prstGeom prst="rect">
            <a:avLst>
              <a:gd name="adj" fmla="val 50000"/>
            </a:avLst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Sangeet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720840" y="2980944"/>
            <a:ext cx="914400" cy="310896"/>
          </a:xfrm>
          <a:prstGeom prst="rect">
            <a:avLst>
              <a:gd name="adj" fmla="val 50000"/>
            </a:avLst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715000" y="3383280"/>
            <a:ext cx="914400" cy="310896"/>
          </a:xfrm>
          <a:prstGeom prst="rect">
            <a:avLst>
              <a:gd name="adj" fmla="val 50000"/>
            </a:avLst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3383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720840" y="3383280"/>
            <a:ext cx="914400" cy="310896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20840" y="3383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15000" y="4261104"/>
            <a:ext cx="201168" cy="201168"/>
          </a:xfrm>
          <a:prstGeom prst="ellipse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4261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537E"/>
                </a:solidFill>
              </a:rPr>
              <a:t>✦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61888" y="4261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detected: Hindu wedding in Mumbai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760720" y="5760720"/>
            <a:ext cx="1920240" cy="420624"/>
          </a:xfrm>
          <a:prstGeom prst="rect">
            <a:avLst>
              <a:gd name="adj" fmla="val 50000"/>
            </a:avLst>
          </a:prstGeom>
          <a:solidFill>
            <a:srgbClr val="D4537E"/>
          </a:solidFill>
          <a:ln/>
        </p:spPr>
      </p:sp>
      <p:sp>
        <p:nvSpPr>
          <p:cNvPr id="63" name="Text 61"/>
          <p:cNvSpPr/>
          <p:nvPr/>
        </p:nvSpPr>
        <p:spPr>
          <a:xfrm>
            <a:off x="5760720" y="5760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→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138160" y="1143000"/>
            <a:ext cx="2286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138160" y="1143000"/>
            <a:ext cx="2286000" cy="256032"/>
          </a:xfrm>
          <a:prstGeom prst="rect">
            <a:avLst/>
          </a:prstGeom>
          <a:solidFill>
            <a:srgbClr val="F9F4F6"/>
          </a:solidFill>
          <a:ln/>
        </p:spPr>
      </p:sp>
      <p:sp>
        <p:nvSpPr>
          <p:cNvPr id="66" name="Text 64"/>
          <p:cNvSpPr/>
          <p:nvPr/>
        </p:nvSpPr>
        <p:spPr>
          <a:xfrm>
            <a:off x="8247888" y="11612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36676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68" name="Shape 66"/>
          <p:cNvSpPr/>
          <p:nvPr/>
        </p:nvSpPr>
        <p:spPr>
          <a:xfrm>
            <a:off x="886968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69" name="Shape 67"/>
          <p:cNvSpPr/>
          <p:nvPr/>
        </p:nvSpPr>
        <p:spPr>
          <a:xfrm>
            <a:off x="937260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0" name="Shape 68"/>
          <p:cNvSpPr/>
          <p:nvPr/>
        </p:nvSpPr>
        <p:spPr>
          <a:xfrm>
            <a:off x="9875520" y="1481328"/>
            <a:ext cx="41148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1" name="Text 69"/>
          <p:cNvSpPr/>
          <p:nvPr/>
        </p:nvSpPr>
        <p:spPr>
          <a:xfrm>
            <a:off x="8275320" y="1600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4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275320" y="181051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Roughly, what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your budget?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8275320" y="2560320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66760" y="257860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₹5L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275320" y="3163824"/>
            <a:ext cx="2011680" cy="512064"/>
          </a:xfrm>
          <a:prstGeom prst="rect">
            <a:avLst/>
          </a:prstGeom>
          <a:solidFill>
            <a:srgbClr val="FBEAF0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66760" y="31821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₹5L – ₹15L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275320" y="3767328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366760" y="37856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₹15L – ₹30L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75320" y="4370832"/>
            <a:ext cx="2011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66760" y="43891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₹30L+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321040" y="5760720"/>
            <a:ext cx="1920240" cy="420624"/>
          </a:xfrm>
          <a:prstGeom prst="rect">
            <a:avLst>
              <a:gd name="adj" fmla="val 50000"/>
            </a:avLst>
          </a:prstGeom>
          <a:solidFill>
            <a:srgbClr val="D4537E"/>
          </a:solidFill>
          <a:ln/>
        </p:spPr>
      </p:sp>
      <p:sp>
        <p:nvSpPr>
          <p:cNvPr id="82" name="Text 80"/>
          <p:cNvSpPr/>
          <p:nvPr/>
        </p:nvSpPr>
        <p:spPr>
          <a:xfrm>
            <a:off x="8321040" y="57607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my plan ✦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7200" y="66019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entry · Dark shell shell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017520" y="66019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+ city + guests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5577840" y="66019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chips · AI pre-select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138160" y="66019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· 4 options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+ S5 · Dashboard +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planning engine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286000" cy="1417320"/>
          </a:xfrm>
          <a:prstGeom prst="rect">
            <a:avLst/>
          </a:prstGeom>
          <a:solidFill>
            <a:srgbClr val="FBEAF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34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Priya ✨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Plan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1097280" cy="237744"/>
          </a:xfrm>
          <a:prstGeom prst="rect">
            <a:avLst>
              <a:gd name="adj" fmla="val 50000"/>
            </a:avLst>
          </a:prstGeom>
          <a:solidFill>
            <a:srgbClr val="D4537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47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days to go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194560"/>
            <a:ext cx="594360" cy="594360"/>
          </a:xfrm>
          <a:prstGeom prst="ellipse">
            <a:avLst/>
          </a:prstGeom>
          <a:ln w="12700">
            <a:solidFill>
              <a:srgbClr val="F4C0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2677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of 147 tasks done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34440" y="2487168"/>
            <a:ext cx="1371600" cy="64008"/>
          </a:xfrm>
          <a:prstGeom prst="rect">
            <a:avLst/>
          </a:prstGeom>
          <a:solidFill>
            <a:srgbClr val="F4C0D1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2487168"/>
            <a:ext cx="475488" cy="6400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743200"/>
            <a:ext cx="2066544" cy="77724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7980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Do this next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30175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photographer this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— availability drops fast.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3611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priorities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6928" y="38587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banquet halls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4279392"/>
            <a:ext cx="182880" cy="182880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26110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guest list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700016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817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mehendi artist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6144768"/>
            <a:ext cx="22860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163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537E"/>
                </a:solidFill>
              </a:rPr>
              <a:t>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" y="6163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2A9"/>
                </a:solidFill>
              </a:rPr>
              <a:t>◎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0744" y="6163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2A9"/>
                </a:solidFill>
              </a:rPr>
              <a:t>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19656" y="6163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2A9"/>
                </a:solidFill>
              </a:rPr>
              <a:t>◷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58568" y="6163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B2A9"/>
                </a:solidFill>
              </a:rPr>
              <a:t>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6583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· Dashboard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1143000"/>
            <a:ext cx="2286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17520" y="1143000"/>
            <a:ext cx="2286000" cy="256032"/>
          </a:xfrm>
          <a:prstGeom prst="rect">
            <a:avLst/>
          </a:prstGeom>
          <a:solidFill>
            <a:srgbClr val="F9F4F6"/>
          </a:solidFill>
          <a:ln/>
        </p:spPr>
      </p:sp>
      <p:sp>
        <p:nvSpPr>
          <p:cNvPr id="35" name="Text 33"/>
          <p:cNvSpPr/>
          <p:nvPr/>
        </p:nvSpPr>
        <p:spPr>
          <a:xfrm>
            <a:off x="3127248" y="141732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Wedding Timeline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127248" y="1828800"/>
            <a:ext cx="2066544" cy="274320"/>
          </a:xfrm>
          <a:prstGeom prst="rect">
            <a:avLst/>
          </a:prstGeom>
          <a:solidFill>
            <a:srgbClr val="F1EFE8"/>
          </a:solidFill>
          <a:ln/>
        </p:spPr>
      </p:sp>
      <p:sp>
        <p:nvSpPr>
          <p:cNvPr id="37" name="Shape 35"/>
          <p:cNvSpPr/>
          <p:nvPr/>
        </p:nvSpPr>
        <p:spPr>
          <a:xfrm>
            <a:off x="3127248" y="1828800"/>
            <a:ext cx="685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13048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98848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127248" y="2212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 before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127248" y="2487168"/>
            <a:ext cx="164592" cy="164592"/>
          </a:xfrm>
          <a:prstGeom prst="ellipse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9544" y="2651760"/>
            <a:ext cx="0" cy="493776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64992" y="2468880"/>
            <a:ext cx="1810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56432" y="2487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guest list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56432" y="27614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27248" y="3145536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9544" y="3310128"/>
            <a:ext cx="0" cy="493776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64992" y="3127248"/>
            <a:ext cx="1810512" cy="566928"/>
          </a:xfrm>
          <a:prstGeom prst="rect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56432" y="3145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banquet halls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456432" y="34198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18 · Today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127248" y="380390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9544" y="3968496"/>
            <a:ext cx="0" cy="493776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64992" y="3785616"/>
            <a:ext cx="18105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56432" y="3803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mehendi artist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456432" y="40782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25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127248" y="4462272"/>
            <a:ext cx="164592" cy="164592"/>
          </a:xfrm>
          <a:prstGeom prst="ellipse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64992" y="4443984"/>
            <a:ext cx="1810512" cy="566928"/>
          </a:xfrm>
          <a:prstGeom prst="rect">
            <a:avLst/>
          </a:prstGeom>
          <a:solidFill>
            <a:srgbClr val="F1EFE8"/>
          </a:solidFill>
          <a:ln w="12700">
            <a:solidFill>
              <a:srgbClr val="F0D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56432" y="44622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invitations 🔒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456432" y="47365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154680" y="65836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Timeline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69280" y="1143000"/>
            <a:ext cx="603504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669280" y="1143000"/>
            <a:ext cx="6035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4" name="Text 62"/>
          <p:cNvSpPr/>
          <p:nvPr/>
        </p:nvSpPr>
        <p:spPr>
          <a:xfrm>
            <a:off x="5852160" y="1261872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+ annotations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852160" y="1691640"/>
            <a:ext cx="237744" cy="237744"/>
          </a:xfrm>
          <a:prstGeom prst="ellipse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52160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✦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144768" y="167335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card (Dashboard)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44768" y="1911096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UI priority on the dashboard. One task. Champagne CTA. Bloom pink background. Always visible above the fold. Never more than one AI card at a time.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852160" y="2587752"/>
            <a:ext cx="237744" cy="237744"/>
          </a:xfrm>
          <a:prstGeom prst="ellipse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52160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◎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144768" y="256946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ring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144768" y="280720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donut chart. 64px on mobile. Spring animation (cubic-bezier .34,1.56,.64,1) on load and on task completion. Micro-celebration at 25/50/75/100%.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852160" y="3483864"/>
            <a:ext cx="237744" cy="237744"/>
          </a:xfrm>
          <a:prstGeom prst="ellipse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52160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🔒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144768" y="346557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task indicator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144768" y="37033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Greyed card, lock icon, dependency name shown inline. Tap reveals: 'This task is waiting on: [parent task].' Unblocking animates the card to full opacity.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852160" y="4379976"/>
            <a:ext cx="237744" cy="237744"/>
          </a:xfrm>
          <a:prstGeom prst="ellipse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0" y="4379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◆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144768" y="436168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marker (Timeline)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144768" y="459943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Champagne gold dot — distinct from done (bloom pink) and upcoming (white outline). Auto-scrolls to today on screen load.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852160" y="5276088"/>
            <a:ext cx="237744" cy="237744"/>
          </a:xfrm>
          <a:prstGeom prst="ellipse">
            <a:avLst/>
          </a:prstGeom>
          <a:solidFill>
            <a:srgbClr val="F5EDD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52160" y="52760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✦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6144768" y="525780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button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144768" y="5495544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Recalculates all future task deadlines based on current completion rate. AI identifies critical path if behind schedule. 1-tap recalculation.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UX Specification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4-phase user journey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534924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743200" cy="54864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53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5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S1–S3  ·  First 60 sec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landing → AI plan generated. Welcome → 4-step setup → AI builds 147-task personalised timeline.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COPY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3584448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584448"/>
            <a:ext cx="45720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0273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"Tell us about your big day 💍"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4334256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334256"/>
            <a:ext cx="45720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35254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"Build my plan ✦"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5084064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5084064"/>
            <a:ext cx="45720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0235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plan is ready ✨"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1234440"/>
            <a:ext cx="2743200" cy="534924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22" name="Shape 20"/>
          <p:cNvSpPr/>
          <p:nvPr/>
        </p:nvSpPr>
        <p:spPr>
          <a:xfrm>
            <a:off x="3383280" y="1234440"/>
            <a:ext cx="27432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1353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52044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S4–S7  ·  Daily · weeks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planning engine. Dashboard → Timeline → Task detail → Vendors. AI suggests, couple executes.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33375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COPY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3584448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29" name="Shape 27"/>
          <p:cNvSpPr/>
          <p:nvPr/>
        </p:nvSpPr>
        <p:spPr>
          <a:xfrm>
            <a:off x="3520440" y="3584448"/>
            <a:ext cx="45720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60273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 this next ✦"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20440" y="4334256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32" name="Shape 30"/>
          <p:cNvSpPr/>
          <p:nvPr/>
        </p:nvSpPr>
        <p:spPr>
          <a:xfrm>
            <a:off x="3520440" y="4334256"/>
            <a:ext cx="45720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435254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"Completing this unlocks..."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5084064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35" name="Shape 33"/>
          <p:cNvSpPr/>
          <p:nvPr/>
        </p:nvSpPr>
        <p:spPr>
          <a:xfrm>
            <a:off x="3520440" y="5084064"/>
            <a:ext cx="45720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510235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"You're on track ✨"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1234440"/>
            <a:ext cx="2743200" cy="534924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38" name="Shape 36"/>
          <p:cNvSpPr/>
          <p:nvPr/>
        </p:nvSpPr>
        <p:spPr>
          <a:xfrm>
            <a:off x="6309360" y="1234440"/>
            <a:ext cx="2743200" cy="54864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1353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9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44652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4652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S8–S9  ·  Final week + day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4652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day-of view. Auto-activates 24h before each event. Hour-by-hour schedule + quick contacts.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33375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COPY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46520" y="3584448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6520" y="3584448"/>
            <a:ext cx="45720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46" name="Text 44"/>
          <p:cNvSpPr/>
          <p:nvPr/>
        </p:nvSpPr>
        <p:spPr>
          <a:xfrm>
            <a:off x="6537960" y="360273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"Today is your wedding day 🌸"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4334256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48" name="Shape 46"/>
          <p:cNvSpPr/>
          <p:nvPr/>
        </p:nvSpPr>
        <p:spPr>
          <a:xfrm>
            <a:off x="6446520" y="4334256"/>
            <a:ext cx="45720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435254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"Photographer arrives in 30 min"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46520" y="5084064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51" name="Shape 49"/>
          <p:cNvSpPr/>
          <p:nvPr/>
        </p:nvSpPr>
        <p:spPr>
          <a:xfrm>
            <a:off x="6446520" y="5084064"/>
            <a:ext cx="45720" cy="658368"/>
          </a:xfrm>
          <a:prstGeom prst="rect">
            <a:avLst/>
          </a:prstGeom>
          <a:solidFill>
            <a:srgbClr val="7A9E8E"/>
          </a:solidFill>
          <a:ln/>
        </p:spPr>
      </p:sp>
      <p:sp>
        <p:nvSpPr>
          <p:cNvPr id="52" name="Text 50"/>
          <p:cNvSpPr/>
          <p:nvPr/>
        </p:nvSpPr>
        <p:spPr>
          <a:xfrm>
            <a:off x="6537960" y="510235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"Nothing overdue — on track ✨"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235440" y="1234440"/>
            <a:ext cx="2743200" cy="5349240"/>
          </a:xfrm>
          <a:prstGeom prst="rect">
            <a:avLst/>
          </a:prstGeom>
          <a:solidFill>
            <a:srgbClr val="2A1A24"/>
          </a:solidFill>
          <a:ln/>
        </p:spPr>
      </p:sp>
      <p:sp>
        <p:nvSpPr>
          <p:cNvPr id="54" name="Shape 52"/>
          <p:cNvSpPr/>
          <p:nvPr/>
        </p:nvSpPr>
        <p:spPr>
          <a:xfrm>
            <a:off x="9235440" y="1234440"/>
            <a:ext cx="2743200" cy="54864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55" name="Text 53"/>
          <p:cNvSpPr/>
          <p:nvPr/>
        </p:nvSpPr>
        <p:spPr>
          <a:xfrm>
            <a:off x="9372600" y="1353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A9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372600" y="1737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37260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 ·  Post-wedding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372600" y="2423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conclusion. Stats card, share CTA, NPS prompt. Closes the loop and earns word-of-mouth.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372600" y="33375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UX COPY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372600" y="3584448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61" name="Shape 59"/>
          <p:cNvSpPr/>
          <p:nvPr/>
        </p:nvSpPr>
        <p:spPr>
          <a:xfrm>
            <a:off x="9372600" y="3584448"/>
            <a:ext cx="45720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62" name="Text 60"/>
          <p:cNvSpPr/>
          <p:nvPr/>
        </p:nvSpPr>
        <p:spPr>
          <a:xfrm>
            <a:off x="9464040" y="360273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 did it. Congratulations 🌸"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372600" y="4334256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64" name="Shape 62"/>
          <p:cNvSpPr/>
          <p:nvPr/>
        </p:nvSpPr>
        <p:spPr>
          <a:xfrm>
            <a:off x="9372600" y="4334256"/>
            <a:ext cx="45720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65" name="Text 63"/>
          <p:cNvSpPr/>
          <p:nvPr/>
        </p:nvSpPr>
        <p:spPr>
          <a:xfrm>
            <a:off x="9464040" y="435254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"Your planning journey"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372600" y="5084064"/>
            <a:ext cx="2468880" cy="658368"/>
          </a:xfrm>
          <a:prstGeom prst="rect">
            <a:avLst/>
          </a:prstGeom>
          <a:solidFill>
            <a:srgbClr val="1A1218"/>
          </a:solidFill>
          <a:ln/>
        </p:spPr>
      </p:sp>
      <p:sp>
        <p:nvSpPr>
          <p:cNvPr id="67" name="Shape 65"/>
          <p:cNvSpPr/>
          <p:nvPr/>
        </p:nvSpPr>
        <p:spPr>
          <a:xfrm>
            <a:off x="9372600" y="5084064"/>
            <a:ext cx="45720" cy="658368"/>
          </a:xfrm>
          <a:prstGeom prst="rect">
            <a:avLst/>
          </a:prstGeom>
          <a:solidFill>
            <a:srgbClr val="AFA9EC"/>
          </a:solidFill>
          <a:ln/>
        </p:spPr>
      </p:sp>
      <p:sp>
        <p:nvSpPr>
          <p:cNvPr id="68" name="Text 66"/>
          <p:cNvSpPr/>
          <p:nvPr/>
        </p:nvSpPr>
        <p:spPr>
          <a:xfrm>
            <a:off x="9464040" y="510235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"Would you recommend us?"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46120" y="3931920"/>
            <a:ext cx="91440" cy="0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72200" y="3931920"/>
            <a:ext cx="91440" cy="0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98280" y="3931920"/>
            <a:ext cx="91440" cy="0"/>
          </a:xfrm>
          <a:prstGeom prst="line">
            <a:avLst/>
          </a:prstGeom>
          <a:noFill/>
          <a:ln w="12700">
            <a:solidFill>
              <a:srgbClr val="F4C0D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Build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A12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stack + success metrics +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 STACK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44752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99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17007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Lovable.dev / Next.js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90195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PWA-ready · React · Vercel deploy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2199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21992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276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DB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" y="24780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67919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Realtime · Storage · Free tier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99232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0540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" y="32552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45643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 · Timeline generation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144475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0" y="1444752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3" name="Text 21"/>
          <p:cNvSpPr/>
          <p:nvPr/>
        </p:nvSpPr>
        <p:spPr>
          <a:xfrm>
            <a:off x="4279392" y="14996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79392" y="170078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79392" y="190195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 — 30 day approval lead time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0" y="222199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0" y="2221992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28" name="Text 26"/>
          <p:cNvSpPr/>
          <p:nvPr/>
        </p:nvSpPr>
        <p:spPr>
          <a:xfrm>
            <a:off x="4279392" y="227685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79392" y="24780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79392" y="267919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+ cards · India-first · Escrow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0" y="2999232"/>
            <a:ext cx="3383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E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0" y="2999232"/>
            <a:ext cx="54864" cy="658368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33" name="Text 31"/>
          <p:cNvSpPr/>
          <p:nvPr/>
        </p:nvSpPr>
        <p:spPr>
          <a:xfrm>
            <a:off x="4279392" y="305409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79392" y="325526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2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79392" y="345643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· No-code setup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11704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(30 DAYS POST-LAUNCH)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55280" y="1444752"/>
            <a:ext cx="1920240" cy="109728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955280" y="15819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5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7955280" y="2130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12680" y="1444752"/>
            <a:ext cx="1920240" cy="109728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012680" y="15819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5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0012680" y="2130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2679192"/>
            <a:ext cx="1920240" cy="109728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955280" y="28163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5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7955280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Tasks/week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012680" y="2679192"/>
            <a:ext cx="1920240" cy="1097280"/>
          </a:xfrm>
          <a:prstGeom prst="rect">
            <a:avLst/>
          </a:prstGeom>
          <a:solidFill>
            <a:srgbClr val="FBEAF0"/>
          </a:solidFill>
          <a:ln w="12700">
            <a:solidFill>
              <a:srgbClr val="F4C0D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012680" y="28163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53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10012680" y="33649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3977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306824"/>
            <a:ext cx="256032" cy="256032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" y="4251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this design file with your builder — scope call this week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4965192"/>
            <a:ext cx="256032" cy="256032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9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04672" y="49103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WhatsApp Business API today — 30-day approval lead time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5623560"/>
            <a:ext cx="256032" cy="256032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5623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4672" y="55686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Indian wedding task library — 200 tasks with categories + dependencies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00800" y="4306824"/>
            <a:ext cx="256032" cy="256032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748272" y="42519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Supabase project — 3 tables: Weddings, Tasks, Events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400800" y="4965192"/>
            <a:ext cx="256032" cy="256032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63" name="Text 61"/>
          <p:cNvSpPr/>
          <p:nvPr/>
        </p:nvSpPr>
        <p:spPr>
          <a:xfrm>
            <a:off x="6400800" y="4965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48272" y="49103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test the AI timeline generation prompt manually before coding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400800" y="5623560"/>
            <a:ext cx="256032" cy="256032"/>
          </a:xfrm>
          <a:prstGeom prst="ellipse">
            <a:avLst/>
          </a:prstGeom>
          <a:solidFill>
            <a:srgbClr val="D4537E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0" y="5623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748272" y="55686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 engaged couples to test with — weddings 6–12 months away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2880360"/>
            <a:ext cx="1097280" cy="1097280"/>
          </a:xfrm>
          <a:prstGeom prst="ellipse">
            <a:avLst/>
          </a:prstGeom>
          <a:ln w="12700">
            <a:solidFill>
              <a:srgbClr val="D4537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06340" y="2354580"/>
            <a:ext cx="2148840" cy="2148840"/>
          </a:xfrm>
          <a:prstGeom prst="ellipse">
            <a:avLst/>
          </a:prstGeom>
          <a:ln w="12700">
            <a:solidFill>
              <a:srgbClr val="D4537E">
                <a:alpha val="3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80560" y="1828800"/>
            <a:ext cx="3200400" cy="3200400"/>
          </a:xfrm>
          <a:prstGeom prst="ellipse">
            <a:avLst/>
          </a:prstGeom>
          <a:ln w="12700">
            <a:solidFill>
              <a:srgbClr val="D4537E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54780" y="1303020"/>
            <a:ext cx="4251960" cy="4251960"/>
          </a:xfrm>
          <a:prstGeom prst="ellipse">
            <a:avLst/>
          </a:prstGeom>
          <a:ln w="12700">
            <a:solidFill>
              <a:srgbClr val="D4537E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777240"/>
            <a:ext cx="5303520" cy="5303520"/>
          </a:xfrm>
          <a:prstGeom prst="ellipse">
            <a:avLst/>
          </a:prstGeom>
          <a:ln w="12700">
            <a:solidFill>
              <a:srgbClr val="D4537E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3220" y="251460"/>
            <a:ext cx="6355080" cy="6355080"/>
          </a:xfrm>
          <a:prstGeom prst="ellipse">
            <a:avLst/>
          </a:prstGeom>
          <a:ln w="12700">
            <a:solidFill>
              <a:srgbClr val="D4537E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537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build.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C0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Indian wedding market is yours to own.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4C0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has built what you are building.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4023360"/>
            <a:ext cx="3017520" cy="32918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0233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v2.0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4023360"/>
            <a:ext cx="3017520" cy="32918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0233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Mapped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4023360"/>
            <a:ext cx="3017520" cy="32918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0233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Design Kits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480560"/>
            <a:ext cx="3017520" cy="32918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480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Ivory Bloom Selected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4480560"/>
            <a:ext cx="3017520" cy="32918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 w="12700">
            <a:solidFill>
              <a:srgbClr val="D453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480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5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Screens Specced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4480560"/>
            <a:ext cx="3017520" cy="329184"/>
          </a:xfrm>
          <a:prstGeom prst="rect">
            <a:avLst>
              <a:gd name="adj" fmla="val 50000"/>
            </a:avLst>
          </a:prstGeom>
          <a:solidFill>
            <a:srgbClr val="2A1A2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44805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 Ready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WeddingFlow AI  ·  Complete Design File  ·  v1.0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WeddingFlow AI — Complete Design File</dc:title>
  <dc:subject>PptxGenJS Presentation</dc:subject>
  <dc:creator>WeddingFlow AI</dc:creator>
  <cp:lastModifiedBy>WeddingFlow AI</cp:lastModifiedBy>
  <cp:revision>1</cp:revision>
  <dcterms:created xsi:type="dcterms:W3CDTF">2026-03-19T18:56:28Z</dcterms:created>
  <dcterms:modified xsi:type="dcterms:W3CDTF">2026-03-19T18:56:28Z</dcterms:modified>
</cp:coreProperties>
</file>